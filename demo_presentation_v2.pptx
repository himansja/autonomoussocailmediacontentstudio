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206240" y="0"/>
            <a:ext cx="365760" cy="6858000"/>
          </a:xfrm>
          <a:prstGeom prst="rect">
            <a:avLst/>
          </a:prstGeom>
          <a:solidFill>
            <a:srgbClr val="3A1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-798450" y="1535353"/>
            <a:ext cx="546189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 dirty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6400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00C2FF"/>
                </a:solidFill>
              </a:rPr>
              <a:t>CAPSTONE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97280"/>
            <a:ext cx="7132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Autonomous Social Media
Content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834640"/>
            <a:ext cx="7132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A Multi-Agent AI System that plans, writes, reviews
and refines platform-native social media content — autonomously.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4023360"/>
            <a:ext cx="6400800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0" y="4160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FF"/>
                </a:solidFill>
              </a:rPr>
              <a:t>Contributors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4480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Himanshu Jain  •  Prashanchal Sharma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502920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Technology Stack: LangGraph  •  LangChain  •  Azure OpenAI  •  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6217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</a:rPr>
              <a:t>PROBLEM &amp;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486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The Problem We Solve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5303520" cy="4389120"/>
          </a:xfrm>
          <a:prstGeom prst="rect">
            <a:avLst/>
          </a:prstGeom>
          <a:solidFill>
            <a:srgbClr val="1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530352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😩  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CD6E0"/>
                </a:solidFill>
              </a:rPr>
              <a:t>✗  Creating quality content for 3 platforms daily is exhausting</a:t>
            </a:r>
          </a:p>
          <a:p>
            <a:r>
              <a:rPr sz="1400">
                <a:solidFill>
                  <a:srgbClr val="CCD6E0"/>
                </a:solidFill>
              </a:rPr>
              <a:t>✗  Each platform needs a different tone, format and character limit</a:t>
            </a:r>
          </a:p>
          <a:p>
            <a:r>
              <a:rPr sz="1400">
                <a:solidFill>
                  <a:srgbClr val="CCD6E0"/>
                </a:solidFill>
              </a:rPr>
              <a:t>✗  Manual research + writing + reviewing takes hours per campaign</a:t>
            </a:r>
          </a:p>
          <a:p>
            <a:r>
              <a:rPr sz="1400">
                <a:solidFill>
                  <a:srgbClr val="CCD6E0"/>
                </a:solidFill>
              </a:rPr>
              <a:t>✗  Inconsistent quality when working under time pressure</a:t>
            </a:r>
          </a:p>
          <a:p>
            <a:r>
              <a:rPr sz="1400">
                <a:solidFill>
                  <a:srgbClr val="CCD6E0"/>
                </a:solidFill>
              </a:rPr>
              <a:t>✗  Hard to adapt a single idea across LinkedIn, X and Instagram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577840" cy="4389120"/>
          </a:xfrm>
          <a:prstGeom prst="rect">
            <a:avLst/>
          </a:prstGeom>
          <a:solidFill>
            <a:srgbClr val="02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5577840" cy="45720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1874519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🚀  OUR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7744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CD6E0"/>
                </a:solidFill>
              </a:rPr>
              <a:t>✓  Autonomous multi-agent system powered by LangGraph</a:t>
            </a:r>
          </a:p>
          <a:p>
            <a:r>
              <a:rPr sz="1400">
                <a:solidFill>
                  <a:srgbClr val="CCD6E0"/>
                </a:solidFill>
              </a:rPr>
              <a:t>✓  Planner agent researches trends &amp; builds a content strategy</a:t>
            </a:r>
          </a:p>
          <a:p>
            <a:r>
              <a:rPr sz="1400">
                <a:solidFill>
                  <a:srgbClr val="CCD6E0"/>
                </a:solidFill>
              </a:rPr>
              <a:t>✓  3 specialist agents write platform-native posts in parallel</a:t>
            </a:r>
          </a:p>
          <a:p>
            <a:r>
              <a:rPr sz="1400">
                <a:solidFill>
                  <a:srgbClr val="CCD6E0"/>
                </a:solidFill>
              </a:rPr>
              <a:t>✓  Reviewer agent scores quality &amp; flags issues automatically</a:t>
            </a:r>
          </a:p>
          <a:p>
            <a:r>
              <a:rPr sz="1400">
                <a:solidFill>
                  <a:srgbClr val="CCD6E0"/>
                </a:solidFill>
              </a:rPr>
              <a:t>✓  Reflection loop refines only failing posts — not all platforms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3749039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C2FF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</a:rPr>
              <a:t>PROJECT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486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Strategy &amp; Multi-Agent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2344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D6E0"/>
                </a:solidFill>
              </a:rPr>
              <a:t>Why Plan-Act-Check-Reflect with LangGraph?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5394960" cy="4663440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FF"/>
                </a:solidFill>
              </a:rPr>
              <a:t>🎯 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5212080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dirty="0">
                <a:solidFill>
                  <a:srgbClr val="FFFFFF"/>
                </a:solidFill>
              </a:rPr>
              <a:t>▸ Input: topic text, uploaded file, or a blog URL</a:t>
            </a:r>
          </a:p>
          <a:p>
            <a:r>
              <a:rPr sz="1300" dirty="0">
                <a:solidFill>
                  <a:srgbClr val="FFFFFF"/>
                </a:solidFill>
              </a:rPr>
              <a:t>▸ DuckDuckGo search enriches planning with live data</a:t>
            </a:r>
          </a:p>
          <a:p>
            <a:r>
              <a:rPr sz="1300" dirty="0">
                <a:solidFill>
                  <a:srgbClr val="FFFFFF"/>
                </a:solidFill>
              </a:rPr>
              <a:t>▸ Single planner creates one coherent strategy</a:t>
            </a:r>
          </a:p>
          <a:p>
            <a:r>
              <a:rPr sz="1300" dirty="0">
                <a:solidFill>
                  <a:srgbClr val="FFFFFF"/>
                </a:solidFill>
              </a:rPr>
              <a:t>▸ 3 agents write simultaneously (LinkedIn / X / Instagram)</a:t>
            </a:r>
          </a:p>
          <a:p>
            <a:r>
              <a:rPr sz="1300" dirty="0">
                <a:solidFill>
                  <a:srgbClr val="FFFFFF"/>
                </a:solidFill>
              </a:rPr>
              <a:t>▸ LLM reviewer scores each post 0-10 </a:t>
            </a:r>
            <a:r>
              <a:rPr lang="en-IN" sz="1300" dirty="0">
                <a:solidFill>
                  <a:srgbClr val="FFFFFF"/>
                </a:solidFill>
              </a:rPr>
              <a:t>rating system</a:t>
            </a:r>
            <a:endParaRPr sz="1300" dirty="0">
              <a:solidFill>
                <a:srgbClr val="FFFFFF"/>
              </a:solidFill>
            </a:endParaRPr>
          </a:p>
          <a:p>
            <a:r>
              <a:rPr sz="1300" dirty="0">
                <a:solidFill>
                  <a:srgbClr val="FFFFFF"/>
                </a:solidFill>
              </a:rPr>
              <a:t>▸ Only failing platforms (&lt;7.0) are retried in the next loop</a:t>
            </a:r>
          </a:p>
          <a:p>
            <a:r>
              <a:rPr sz="1300" dirty="0">
                <a:solidFill>
                  <a:srgbClr val="FFFFFF"/>
                </a:solidFill>
              </a:rPr>
              <a:t>▸ Loop exits when score ≥ </a:t>
            </a:r>
            <a:r>
              <a:rPr lang="en-IN" sz="1300" dirty="0">
                <a:solidFill>
                  <a:srgbClr val="FFFFFF"/>
                </a:solidFill>
              </a:rPr>
              <a:t>8.0</a:t>
            </a:r>
            <a:r>
              <a:rPr sz="1300" dirty="0">
                <a:solidFill>
                  <a:srgbClr val="FFFFFF"/>
                </a:solidFill>
              </a:rPr>
              <a:t>, no improvement, or max 3 </a:t>
            </a:r>
            <a:r>
              <a:rPr lang="en-IN" sz="1300" dirty="0">
                <a:solidFill>
                  <a:srgbClr val="FFFFFF"/>
                </a:solidFill>
              </a:rPr>
              <a:t>iterations</a:t>
            </a:r>
            <a:endParaRPr sz="1300" dirty="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577840" cy="4663440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B2FFF"/>
                </a:solidFill>
              </a:rPr>
              <a:t>🧠  Why Plan-Act-Check-Reflect?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377440"/>
            <a:ext cx="5303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▸ Plan-Act-Check gives structure to an open-ended task</a:t>
            </a:r>
          </a:p>
          <a:p>
            <a:r>
              <a:rPr sz="1300">
                <a:solidFill>
                  <a:srgbClr val="FFFFFF"/>
                </a:solidFill>
              </a:rPr>
              <a:t>▸ Parallel fan-out cuts latency vs sequential generation</a:t>
            </a:r>
          </a:p>
          <a:p>
            <a:r>
              <a:rPr sz="1300">
                <a:solidFill>
                  <a:srgbClr val="FFFFFF"/>
                </a:solidFill>
              </a:rPr>
              <a:t>▸ Self-correction loop removes need for human review rounds</a:t>
            </a:r>
          </a:p>
          <a:p>
            <a:r>
              <a:rPr sz="1300">
                <a:solidFill>
                  <a:srgbClr val="FFFFFF"/>
                </a:solidFill>
              </a:rPr>
              <a:t>▸ Targeted reflect avoids re-running already-passing agents</a:t>
            </a:r>
          </a:p>
          <a:p>
            <a:r>
              <a:rPr sz="1300">
                <a:solidFill>
                  <a:srgbClr val="FFFFFF"/>
                </a:solidFill>
              </a:rPr>
              <a:t>▸ LangGraph state machine handles fan-in/fan-out cleanly</a:t>
            </a:r>
          </a:p>
          <a:p>
            <a:r>
              <a:rPr sz="1300">
                <a:solidFill>
                  <a:srgbClr val="FFFFFF"/>
                </a:solidFill>
              </a:rPr>
              <a:t>▸ Stateful graph makes iteration count &amp; scores observable</a:t>
            </a:r>
          </a:p>
          <a:p>
            <a:r>
              <a:rPr sz="1300">
                <a:solidFill>
                  <a:srgbClr val="FFFFFF"/>
                </a:solidFill>
              </a:rPr>
              <a:t>▸ Azure OpenAI prompt caching cuts cost on repeated calls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486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Project Architecture &amp;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691640"/>
            <a:ext cx="7772400" cy="1992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00C2FF"/>
                </a:solidFill>
              </a:rPr>
              <a:t>┌──────────────────────────────────────────────────────────────────────┐
│                        </a:t>
            </a:r>
            <a:r>
              <a:rPr sz="950" b="0" i="0" dirty="0" err="1">
                <a:solidFill>
                  <a:srgbClr val="00C2FF"/>
                </a:solidFill>
              </a:rPr>
              <a:t>FastAPI</a:t>
            </a:r>
            <a:r>
              <a:rPr sz="950" b="0" i="0" dirty="0">
                <a:solidFill>
                  <a:srgbClr val="00C2FF"/>
                </a:solidFill>
              </a:rPr>
              <a:t>  (REST API)                           │
│   POST /upload  ─────────────────────┐   POST /generate ──────────┐ │
│   Saves file, returns path            │   Starts </a:t>
            </a:r>
            <a:r>
              <a:rPr sz="950" b="0" i="0" dirty="0" err="1">
                <a:solidFill>
                  <a:srgbClr val="00C2FF"/>
                </a:solidFill>
              </a:rPr>
              <a:t>LangGraph</a:t>
            </a:r>
            <a:r>
              <a:rPr sz="950" b="0" i="0" dirty="0">
                <a:solidFill>
                  <a:srgbClr val="00C2FF"/>
                </a:solidFill>
              </a:rPr>
              <a:t> workflow│ │
└──────────────────────────────────────────────────────────────────────┘
                               │
              ┌────────────────▼────────────────┐
              │       </a:t>
            </a:r>
            <a:r>
              <a:rPr sz="950" b="0" i="0" dirty="0" err="1">
                <a:solidFill>
                  <a:srgbClr val="00C2FF"/>
                </a:solidFill>
              </a:rPr>
              <a:t>LangGraph</a:t>
            </a:r>
            <a:r>
              <a:rPr sz="950" b="0" i="0" dirty="0">
                <a:solidFill>
                  <a:srgbClr val="00C2FF"/>
                </a:solidFill>
              </a:rPr>
              <a:t> State Machine    │
              │  START → PLAN → [fan-out]        │
              │  [</a:t>
            </a:r>
            <a:r>
              <a:rPr sz="950" b="0" i="0" dirty="0" err="1">
                <a:solidFill>
                  <a:srgbClr val="00C2FF"/>
                </a:solidFill>
              </a:rPr>
              <a:t>LinkedIn│X│Instagram</a:t>
            </a:r>
            <a:r>
              <a:rPr sz="950" b="0" i="0" dirty="0">
                <a:solidFill>
                  <a:srgbClr val="00C2FF"/>
                </a:solidFill>
              </a:rPr>
              <a:t>] → REVIEW │
              │  REVIEW → approve? → FORMAT→END  │
              │          ↘ </a:t>
            </a:r>
            <a:r>
              <a:rPr lang="en-IN" sz="950" b="0" i="0" dirty="0" err="1">
                <a:solidFill>
                  <a:srgbClr val="00C2FF"/>
                </a:solidFill>
              </a:rPr>
              <a:t>replan</a:t>
            </a:r>
            <a:r>
              <a:rPr sz="950" b="0" i="0" dirty="0">
                <a:solidFill>
                  <a:srgbClr val="00C2FF"/>
                </a:solidFill>
              </a:rPr>
              <a:t>? → </a:t>
            </a:r>
            <a:r>
              <a:rPr lang="en-IN" sz="950" b="0" i="0" dirty="0">
                <a:solidFill>
                  <a:srgbClr val="00C2FF"/>
                </a:solidFill>
              </a:rPr>
              <a:t>REPLAN</a:t>
            </a:r>
            <a:r>
              <a:rPr sz="950" b="0" i="0" dirty="0">
                <a:solidFill>
                  <a:srgbClr val="00C2FF"/>
                </a:solidFill>
              </a:rPr>
              <a:t>    │
              └─────────────────────────────────-┘</a:t>
            </a:r>
          </a:p>
        </p:txBody>
      </p:sp>
      <p:sp>
        <p:nvSpPr>
          <p:cNvPr id="6" name="Rectangle 5"/>
          <p:cNvSpPr/>
          <p:nvPr/>
        </p:nvSpPr>
        <p:spPr>
          <a:xfrm>
            <a:off x="8138160" y="1691640"/>
            <a:ext cx="3657600" cy="4892040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0" y="1737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FF"/>
                </a:solidFill>
              </a:rPr>
              <a:t>📦  Dependencies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21488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2FF"/>
                </a:solidFill>
              </a:rPr>
              <a:t>langgraph ≥ 0.2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235000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State machine &amp; graph orchestration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59689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B2FFF"/>
                </a:solidFill>
              </a:rPr>
              <a:t>langchain ≥ 0.3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798064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LLM abstractions &amp; tool protocol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304495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96"/>
                </a:solidFill>
              </a:rPr>
              <a:t>langchain-openai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324612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Azure OpenAI chat model adapter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49300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</a:rPr>
              <a:t>fastapi ≥ 0.115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69417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REST API server (upload + generate)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94106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D6E0"/>
                </a:solidFill>
              </a:rPr>
              <a:t>uvicorn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414223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ASGI server for FastAPI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43891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D6E0"/>
                </a:solidFill>
              </a:rPr>
              <a:t>pydantic ≥ 2.0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459028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Request/response models &amp;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483717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35"/>
                </a:solidFill>
              </a:rPr>
              <a:t>duckduckgo-search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5038344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Live web research for planner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528523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35"/>
                </a:solidFill>
              </a:rPr>
              <a:t>pypdf ≥ 4.0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548640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PDF text extraction for file input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573328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D6E0"/>
                </a:solidFill>
              </a:rPr>
              <a:t>python-multipart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593445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Multipart file upload support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618134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D6E0"/>
                </a:solidFill>
              </a:rPr>
              <a:t>python-dotenv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638251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Environment variable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4892040"/>
            <a:ext cx="768096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CCD6E0"/>
                </a:solidFill>
              </a:rPr>
              <a:t>📁  app/
  core/  (</a:t>
            </a:r>
            <a:r>
              <a:rPr sz="1000" b="0" i="0" dirty="0" err="1">
                <a:solidFill>
                  <a:srgbClr val="CCD6E0"/>
                </a:solidFill>
              </a:rPr>
              <a:t>llm</a:t>
            </a:r>
            <a:r>
              <a:rPr sz="1000" b="0" i="0" dirty="0">
                <a:solidFill>
                  <a:srgbClr val="CCD6E0"/>
                </a:solidFill>
              </a:rPr>
              <a:t>, logger)
  nodes/ (plan, act ×3, check, </a:t>
            </a:r>
            <a:r>
              <a:rPr lang="en-IN" sz="1000" b="0" i="0" dirty="0" err="1">
                <a:solidFill>
                  <a:srgbClr val="CCD6E0"/>
                </a:solidFill>
              </a:rPr>
              <a:t>replan</a:t>
            </a:r>
            <a:r>
              <a:rPr sz="1000" b="0" i="0" dirty="0">
                <a:solidFill>
                  <a:srgbClr val="CCD6E0"/>
                </a:solidFill>
              </a:rPr>
              <a:t>, format)
  graph/ (graph, routing)
  prompts/ (per-agent system + human messages)
  tools/  (</a:t>
            </a:r>
            <a:r>
              <a:rPr sz="1000" b="0" i="0" dirty="0" err="1">
                <a:solidFill>
                  <a:srgbClr val="CCD6E0"/>
                </a:solidFill>
              </a:rPr>
              <a:t>web_search</a:t>
            </a:r>
            <a:r>
              <a:rPr sz="1000" b="0" i="0" dirty="0">
                <a:solidFill>
                  <a:srgbClr val="CCD6E0"/>
                </a:solidFill>
              </a:rPr>
              <a:t>, </a:t>
            </a:r>
            <a:r>
              <a:rPr sz="1000" b="0" i="0" dirty="0" err="1">
                <a:solidFill>
                  <a:srgbClr val="CCD6E0"/>
                </a:solidFill>
              </a:rPr>
              <a:t>read_file</a:t>
            </a:r>
            <a:r>
              <a:rPr sz="1000" b="0" i="0" dirty="0">
                <a:solidFill>
                  <a:srgbClr val="CCD6E0"/>
                </a:solidFill>
              </a:rPr>
              <a:t>, </a:t>
            </a:r>
            <a:r>
              <a:rPr sz="1000" b="0" i="0" dirty="0" err="1">
                <a:solidFill>
                  <a:srgbClr val="CCD6E0"/>
                </a:solidFill>
              </a:rPr>
              <a:t>read_url</a:t>
            </a:r>
            <a:r>
              <a:rPr sz="1000" b="0" i="0" dirty="0">
                <a:solidFill>
                  <a:srgbClr val="CCD6E0"/>
                </a:solidFill>
              </a:rPr>
              <a:t>,
           </a:t>
            </a:r>
            <a:r>
              <a:rPr sz="1000" b="0" i="0" dirty="0" err="1">
                <a:solidFill>
                  <a:srgbClr val="CCD6E0"/>
                </a:solidFill>
              </a:rPr>
              <a:t>char_counter</a:t>
            </a:r>
            <a:r>
              <a:rPr sz="1000" b="0" i="0" dirty="0">
                <a:solidFill>
                  <a:srgbClr val="CCD6E0"/>
                </a:solidFill>
              </a:rPr>
              <a:t>, </a:t>
            </a:r>
            <a:r>
              <a:rPr sz="1000" b="0" i="0" dirty="0" err="1">
                <a:solidFill>
                  <a:srgbClr val="CCD6E0"/>
                </a:solidFill>
              </a:rPr>
              <a:t>guidelines_checker</a:t>
            </a:r>
            <a:r>
              <a:rPr sz="1000" b="0" i="0" dirty="0">
                <a:solidFill>
                  <a:srgbClr val="CCD6E0"/>
                </a:solidFill>
              </a:rPr>
              <a:t>)
  state/  (</a:t>
            </a:r>
            <a:r>
              <a:rPr sz="1000" b="0" i="0" dirty="0" err="1">
                <a:solidFill>
                  <a:srgbClr val="CCD6E0"/>
                </a:solidFill>
              </a:rPr>
              <a:t>ContentState</a:t>
            </a:r>
            <a:r>
              <a:rPr sz="1000" b="0" i="0" dirty="0">
                <a:solidFill>
                  <a:srgbClr val="CCD6E0"/>
                </a:solidFill>
              </a:rPr>
              <a:t> </a:t>
            </a:r>
            <a:r>
              <a:rPr sz="1000" b="0" i="0" dirty="0" err="1">
                <a:solidFill>
                  <a:srgbClr val="CCD6E0"/>
                </a:solidFill>
              </a:rPr>
              <a:t>TypedDict</a:t>
            </a:r>
            <a:r>
              <a:rPr sz="1000" b="0" i="0" dirty="0">
                <a:solidFill>
                  <a:srgbClr val="CCD6E0"/>
                </a:solidFill>
              </a:rPr>
              <a:t>)
  models/ (</a:t>
            </a:r>
            <a:r>
              <a:rPr sz="1000" b="0" i="0" dirty="0" err="1">
                <a:solidFill>
                  <a:srgbClr val="CCD6E0"/>
                </a:solidFill>
              </a:rPr>
              <a:t>Pydantic</a:t>
            </a:r>
            <a:r>
              <a:rPr sz="1000" b="0" i="0" dirty="0">
                <a:solidFill>
                  <a:srgbClr val="CCD6E0"/>
                </a:solidFill>
              </a:rPr>
              <a:t> request/response)
  main.py (</a:t>
            </a:r>
            <a:r>
              <a:rPr sz="1000" b="0" i="0" dirty="0" err="1">
                <a:solidFill>
                  <a:srgbClr val="CCD6E0"/>
                </a:solidFill>
              </a:rPr>
              <a:t>FastAPI</a:t>
            </a:r>
            <a:r>
              <a:rPr sz="1000" b="0" i="0" dirty="0">
                <a:solidFill>
                  <a:srgbClr val="CCD6E0"/>
                </a:solidFill>
              </a:rPr>
              <a:t> app)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</a:rPr>
              <a:t>LANGGRAPH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486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Visual Workflow — Plan · Act · Check · Reflect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5973" y="1965960"/>
            <a:ext cx="31750" cy="201168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04688" y="198424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6E0"/>
                </a:solidFill>
              </a:rPr>
              <a:t>▼</a:t>
            </a:r>
          </a:p>
        </p:txBody>
      </p:sp>
      <p:sp>
        <p:nvSpPr>
          <p:cNvPr id="7" name="Rectangle 6"/>
          <p:cNvSpPr/>
          <p:nvPr/>
        </p:nvSpPr>
        <p:spPr>
          <a:xfrm>
            <a:off x="5625973" y="2624328"/>
            <a:ext cx="31750" cy="246888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194560" y="2855341"/>
            <a:ext cx="6858000" cy="3175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178685" y="2871216"/>
            <a:ext cx="31750" cy="246888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57400" y="2935224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6E0"/>
                </a:solidFill>
              </a:rP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5973" y="2871216"/>
            <a:ext cx="31750" cy="246888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04688" y="2935224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6E0"/>
                </a:solidFill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36685" y="2871216"/>
            <a:ext cx="31750" cy="246888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15400" y="2935224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6E0"/>
                </a:solidFill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78685" y="3575304"/>
            <a:ext cx="31750" cy="246887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25973" y="3575304"/>
            <a:ext cx="31750" cy="246887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036685" y="3575304"/>
            <a:ext cx="31750" cy="246887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194560" y="3806316"/>
            <a:ext cx="6858000" cy="3175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25973" y="3822191"/>
            <a:ext cx="31750" cy="265176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04688" y="3904487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6E0"/>
                </a:solidFill>
              </a:rPr>
              <a:t>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5973" y="4544568"/>
            <a:ext cx="31750" cy="164592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504688" y="4526280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6E0"/>
                </a:solidFill>
              </a:rPr>
              <a:t>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30568" y="4921885"/>
            <a:ext cx="3227832" cy="3175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042525" y="4937760"/>
            <a:ext cx="31750" cy="429767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921240" y="518464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E596"/>
                </a:solidFill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42525" y="5824728"/>
            <a:ext cx="31750" cy="237743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921240" y="5879592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E596"/>
                </a:solidFill>
              </a:rPr>
              <a:t>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37360" y="4921885"/>
            <a:ext cx="2715768" cy="3175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721485" y="4937760"/>
            <a:ext cx="31750" cy="429767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600200" y="518464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6B35"/>
                </a:solidFill>
              </a:rPr>
              <a:t>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" y="5580253"/>
            <a:ext cx="530351" cy="3175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76733" y="2395728"/>
            <a:ext cx="31750" cy="3200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92608" y="2379853"/>
            <a:ext cx="4160520" cy="3175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51960" y="2295144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6B35"/>
                </a:solidFill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10328" y="1531619"/>
            <a:ext cx="1463040" cy="41148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910328" y="1531619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START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53128" y="2167128"/>
            <a:ext cx="2377440" cy="457200"/>
          </a:xfrm>
          <a:prstGeom prst="rect">
            <a:avLst/>
          </a:prstGeom>
          <a:solidFill>
            <a:srgbClr val="1A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53128" y="216712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🗺  PLAN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80160" y="3118104"/>
            <a:ext cx="1828800" cy="457200"/>
          </a:xfrm>
          <a:prstGeom prst="rect">
            <a:avLst/>
          </a:prstGeom>
          <a:solidFill>
            <a:srgbClr val="00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280160" y="311810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LinkedIn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27448" y="3118104"/>
            <a:ext cx="1828800" cy="4572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727448" y="311810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X / Twitter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38160" y="3118104"/>
            <a:ext cx="1828800" cy="457200"/>
          </a:xfrm>
          <a:prstGeom prst="rect">
            <a:avLst/>
          </a:prstGeom>
          <a:solidFill>
            <a:srgbClr val="E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138160" y="311810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Instagram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53128" y="4087368"/>
            <a:ext cx="2377440" cy="45720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53128" y="408736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🔍  CHECK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53128" y="4709160"/>
            <a:ext cx="2377440" cy="457200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453128" y="4709160"/>
            <a:ext cx="2377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</a:rPr>
              <a:t>score ≥ 8.</a:t>
            </a:r>
            <a:r>
              <a:rPr lang="en-IN" sz="1200" b="1" i="0" dirty="0">
                <a:solidFill>
                  <a:srgbClr val="FFFFFF"/>
                </a:solidFill>
              </a:rPr>
              <a:t>0</a:t>
            </a:r>
            <a:r>
              <a:rPr sz="1200" b="1" i="0" dirty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59" y="5367528"/>
            <a:ext cx="1828800" cy="45720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2959" y="5367528"/>
            <a:ext cx="1828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</a:rPr>
              <a:t>🔄  </a:t>
            </a:r>
            <a:r>
              <a:rPr lang="en-IN" sz="1200" b="1" i="0" dirty="0">
                <a:solidFill>
                  <a:srgbClr val="FFFFFF"/>
                </a:solidFill>
              </a:rPr>
              <a:t>REPLAN</a:t>
            </a:r>
            <a:endParaRPr sz="1200" b="1" i="0" dirty="0">
              <a:solidFill>
                <a:srgbClr val="FFFFFF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9144000" y="5367528"/>
            <a:ext cx="1828800" cy="45720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44000" y="536752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✅  FORMAT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26880" y="6085332"/>
            <a:ext cx="1463040" cy="41148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326880" y="6085332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END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40296" y="2624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C2FF"/>
                </a:solidFill>
              </a:rPr>
              <a:t>fan-out (parallel)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40296" y="3575303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C2FF"/>
                </a:solidFill>
              </a:rPr>
              <a:t>fan-in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40296" y="46634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96"/>
                </a:solidFill>
              </a:rPr>
              <a:t>YES 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24912" y="46634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35"/>
                </a:solidFill>
              </a:rPr>
              <a:t>NO  ✗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7472" y="386791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6B35"/>
                </a:solidFill>
              </a:rPr>
              <a:t>retry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686800" y="1600200"/>
            <a:ext cx="3291840" cy="1371600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778240" y="1600200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FFD166"/>
                </a:solidFill>
              </a:rPr>
              <a:t>Routing Rules</a:t>
            </a:r>
          </a:p>
          <a:p>
            <a:r>
              <a:rPr sz="950">
                <a:solidFill>
                  <a:srgbClr val="CCD6E0"/>
                </a:solidFill>
              </a:rPr>
              <a:t>  Quality pass  : overall score ≥ 8.8</a:t>
            </a:r>
          </a:p>
          <a:p>
            <a:r>
              <a:rPr sz="950">
                <a:solidFill>
                  <a:srgbClr val="CCD6E0"/>
                </a:solidFill>
              </a:rPr>
              <a:t>  Platform retry: per-platform score &lt; 7.0</a:t>
            </a:r>
          </a:p>
          <a:p>
            <a:r>
              <a:rPr sz="950">
                <a:solidFill>
                  <a:srgbClr val="CCD6E0"/>
                </a:solidFill>
              </a:rPr>
              <a:t>  Max iterations: 3  (configurable)</a:t>
            </a:r>
          </a:p>
          <a:p>
            <a:r>
              <a:rPr sz="950">
                <a:solidFill>
                  <a:srgbClr val="CCD6E0"/>
                </a:solidFill>
              </a:rPr>
              <a:t>  Stagnation exit: no improvement → approve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</a:rPr>
              <a:t>LANGGRAPH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486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ContentState — Shared Agent Memory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5394960" cy="1453896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5394960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FF"/>
                </a:solidFill>
              </a:rPr>
              <a:t>📥 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input_content  (str)  — topic/brief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3347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source_url     (str)  — blog post URL (optional)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80944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uploaded_file_path (str) — PDF/TXT file (optional)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54680"/>
            <a:ext cx="5394960" cy="1106424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3154680"/>
            <a:ext cx="5394960" cy="73152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32461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2FFF"/>
                </a:solidFill>
              </a:rPr>
              <a:t>🗺 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61188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content_plan  (str)  — strategy produced by Planner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95935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search_results (str) — DuckDuckGo research context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206240"/>
            <a:ext cx="5394960" cy="1106424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4206240"/>
            <a:ext cx="5394960" cy="7315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42976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96"/>
                </a:solidFill>
              </a:rPr>
              <a:t>✍️  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posts  (Dict[str,str], merge_dicts reducer)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01091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  → {linkedin, x, instagram} written in parallel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828800"/>
            <a:ext cx="5394960" cy="1453896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1828800"/>
            <a:ext cx="5394960" cy="7315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🔍  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28600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feedback       (Dict, merge_dicts)  — per-platform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63347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overall_score  (float)  — aggregated quality 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980944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previous_score (float)  — prior iteration score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063240"/>
            <a:ext cx="5394960" cy="758952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17920" y="3063240"/>
            <a:ext cx="539496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9360" y="31546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🔄  Reflect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52044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platforms_to_retry  (list) — failed platforms only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931920"/>
            <a:ext cx="5394960" cy="1106424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17920" y="3931920"/>
            <a:ext cx="5394960" cy="73152"/>
          </a:xfrm>
          <a:prstGeom prst="rect">
            <a:avLst/>
          </a:prstGeom>
          <a:solidFill>
            <a:srgbClr val="00A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09360" y="4023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A66"/>
                </a:solidFill>
              </a:rPr>
              <a:t>✅  Format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38912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final_output   (str)  — publish-ready JSON package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73659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approval_status (bool)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4754880"/>
            <a:ext cx="5394960" cy="1801368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17920" y="4754880"/>
            <a:ext cx="5394960" cy="73152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09360" y="48463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6E0"/>
                </a:solidFill>
              </a:rPr>
              <a:t>⚙️  Control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521208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iteration_count (int)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555955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max_iterations  (int, default 3)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5907024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history         (list, append_list reducer)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6254496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token_usage     (dict, sum_usage reducer) — accumulated tokens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</a:rPr>
              <a:t>AGENTS — PLANNER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486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Planner Agent  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2344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D6E0"/>
                </a:solidFill>
              </a:rPr>
              <a:t>Builds the content strategy before any post is written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83080"/>
            <a:ext cx="5394960" cy="4754880"/>
          </a:xfrm>
          <a:prstGeom prst="rect">
            <a:avLst/>
          </a:prstGeom>
          <a:solidFill>
            <a:srgbClr val="0A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512064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dirty="0">
                <a:solidFill>
                  <a:srgbClr val="FFFFFF"/>
                </a:solidFill>
              </a:rPr>
              <a:t>▸ Reads input (text / uploaded file / URL)</a:t>
            </a:r>
          </a:p>
          <a:p>
            <a:r>
              <a:rPr sz="1300" dirty="0">
                <a:solidFill>
                  <a:srgbClr val="FFFFFF"/>
                </a:solidFill>
              </a:rPr>
              <a:t>▸ Calls </a:t>
            </a:r>
            <a:r>
              <a:rPr sz="1300" dirty="0" err="1">
                <a:solidFill>
                  <a:srgbClr val="FFFFFF"/>
                </a:solidFill>
              </a:rPr>
              <a:t>web_search</a:t>
            </a:r>
            <a:r>
              <a:rPr sz="1300" dirty="0">
                <a:solidFill>
                  <a:srgbClr val="FFFFFF"/>
                </a:solidFill>
              </a:rPr>
              <a:t> ×2 — topic research + trending content</a:t>
            </a:r>
          </a:p>
          <a:p>
            <a:r>
              <a:rPr sz="1300" dirty="0">
                <a:solidFill>
                  <a:srgbClr val="FFFFFF"/>
                </a:solidFill>
              </a:rPr>
              <a:t>▸ Runs LLM call with research to build content plan</a:t>
            </a:r>
          </a:p>
          <a:p>
            <a:r>
              <a:rPr sz="1300" dirty="0">
                <a:solidFill>
                  <a:srgbClr val="FFFFFF"/>
                </a:solidFill>
              </a:rPr>
              <a:t>▸ Defines audience, core message, hashtag themes per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Plan sections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0"/>
            <a:ext cx="51206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CCD6E0"/>
                </a:solidFill>
              </a:rPr>
              <a:t>   1 Target audience   </a:t>
            </a:r>
            <a:r>
              <a:rPr lang="en-IN" sz="1200" dirty="0">
                <a:solidFill>
                  <a:srgbClr val="CCD6E0"/>
                </a:solidFill>
              </a:rPr>
              <a:t>		</a:t>
            </a:r>
            <a:r>
              <a:rPr sz="1200" dirty="0">
                <a:solidFill>
                  <a:srgbClr val="CCD6E0"/>
                </a:solidFill>
              </a:rPr>
              <a:t>5 LinkedIn strategy</a:t>
            </a:r>
          </a:p>
          <a:p>
            <a:r>
              <a:rPr sz="1200" dirty="0">
                <a:solidFill>
                  <a:srgbClr val="CCD6E0"/>
                </a:solidFill>
              </a:rPr>
              <a:t>   2 Core message      </a:t>
            </a:r>
            <a:r>
              <a:rPr lang="en-IN" sz="1200" dirty="0">
                <a:solidFill>
                  <a:srgbClr val="CCD6E0"/>
                </a:solidFill>
              </a:rPr>
              <a:t>		</a:t>
            </a:r>
            <a:r>
              <a:rPr sz="1200" dirty="0">
                <a:solidFill>
                  <a:srgbClr val="CCD6E0"/>
                </a:solidFill>
              </a:rPr>
              <a:t>6 X (Twitter) strategy</a:t>
            </a:r>
          </a:p>
          <a:p>
            <a:r>
              <a:rPr sz="1200" dirty="0">
                <a:solidFill>
                  <a:srgbClr val="CCD6E0"/>
                </a:solidFill>
              </a:rPr>
              <a:t>   3 Key facts/data   </a:t>
            </a:r>
            <a:r>
              <a:rPr lang="en-IN" sz="1200" dirty="0">
                <a:solidFill>
                  <a:srgbClr val="CCD6E0"/>
                </a:solidFill>
              </a:rPr>
              <a:t> </a:t>
            </a:r>
            <a:r>
              <a:rPr sz="1200" dirty="0">
                <a:solidFill>
                  <a:srgbClr val="CCD6E0"/>
                </a:solidFill>
              </a:rPr>
              <a:t> </a:t>
            </a:r>
            <a:r>
              <a:rPr lang="en-IN" sz="1200" dirty="0">
                <a:solidFill>
                  <a:srgbClr val="CCD6E0"/>
                </a:solidFill>
              </a:rPr>
              <a:t>		</a:t>
            </a:r>
            <a:r>
              <a:rPr sz="1200" dirty="0">
                <a:solidFill>
                  <a:srgbClr val="CCD6E0"/>
                </a:solidFill>
              </a:rPr>
              <a:t>7 Instagram strategy</a:t>
            </a:r>
          </a:p>
          <a:p>
            <a:r>
              <a:rPr sz="1200" dirty="0">
                <a:solidFill>
                  <a:srgbClr val="CCD6E0"/>
                </a:solidFill>
              </a:rPr>
              <a:t>   4 Trending angles   </a:t>
            </a:r>
            <a:r>
              <a:rPr lang="en-IN" sz="1200" dirty="0">
                <a:solidFill>
                  <a:srgbClr val="CCD6E0"/>
                </a:solidFill>
              </a:rPr>
              <a:t>		</a:t>
            </a:r>
            <a:r>
              <a:rPr sz="1200" dirty="0">
                <a:solidFill>
                  <a:srgbClr val="CCD6E0"/>
                </a:solidFill>
              </a:rPr>
              <a:t>8 Key phrases  </a:t>
            </a:r>
            <a:endParaRPr lang="en-IN" sz="1200" dirty="0">
              <a:solidFill>
                <a:srgbClr val="CCD6E0"/>
              </a:solidFill>
            </a:endParaRPr>
          </a:p>
          <a:p>
            <a:r>
              <a:rPr lang="en-IN" sz="1200" dirty="0">
                <a:solidFill>
                  <a:srgbClr val="CCD6E0"/>
                </a:solidFill>
              </a:rPr>
              <a:t>				</a:t>
            </a:r>
            <a:r>
              <a:rPr sz="1200" dirty="0">
                <a:solidFill>
                  <a:srgbClr val="CCD6E0"/>
                </a:solidFill>
              </a:rPr>
              <a:t>9 Avoid list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577840" cy="4754880"/>
          </a:xfrm>
          <a:prstGeom prst="rect">
            <a:avLst/>
          </a:prstGeom>
          <a:solidFill>
            <a:srgbClr val="0A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8288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2FFF"/>
                </a:solidFill>
              </a:rPr>
              <a:t>Source content 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286000"/>
            <a:ext cx="5212080" cy="777240"/>
          </a:xfrm>
          <a:prstGeom prst="rect">
            <a:avLst/>
          </a:prstGeom>
          <a:solidFill>
            <a:srgbClr val="15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23317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FF"/>
                </a:solidFill>
              </a:rPr>
              <a:t>📝  text 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700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Direct brief from user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200400"/>
            <a:ext cx="5212080" cy="777240"/>
          </a:xfrm>
          <a:prstGeom prst="rect">
            <a:avLst/>
          </a:prstGeom>
          <a:solidFill>
            <a:srgbClr val="15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32461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FF"/>
                </a:solidFill>
              </a:rPr>
              <a:t>📎  uploaded 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5844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PDF, TXT, MD, CSV via /upload endpoint
read_uploaded_file tool extracts text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114800"/>
            <a:ext cx="5212080" cy="777240"/>
          </a:xfrm>
          <a:prstGeom prst="rect">
            <a:avLst/>
          </a:prstGeom>
          <a:solidFill>
            <a:srgbClr val="15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41605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FF"/>
                </a:solidFill>
              </a:rPr>
              <a:t>🌐  URL input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4988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read_url tool fetches &amp; strips HTML
from any blog post or article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</a:rPr>
              <a:t>AGENTS — 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486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Act Agents — Platform Writers  ✍️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2344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D6E0"/>
                </a:solidFill>
              </a:rPr>
              <a:t>Three specialist agents write posts in parallel (LangGraph fan-out)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37360"/>
            <a:ext cx="3749039" cy="4846320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737360"/>
            <a:ext cx="3749039" cy="502920"/>
          </a:xfrm>
          <a:prstGeom prst="rect">
            <a:avLst/>
          </a:prstGeom>
          <a:solidFill>
            <a:srgbClr val="00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76479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LinkedIn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860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D166"/>
                </a:solidFill>
              </a:rPr>
              <a:t>3 000 char limit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06040"/>
            <a:ext cx="352044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CCD6E0"/>
                </a:solidFill>
              </a:rPr>
              <a:t>▸ Professional, thought-leadership tone</a:t>
            </a:r>
          </a:p>
          <a:p>
            <a:r>
              <a:rPr sz="1100" dirty="0">
                <a:solidFill>
                  <a:srgbClr val="CCD6E0"/>
                </a:solidFill>
              </a:rPr>
              <a:t>▸ 900–1400 character body recommended</a:t>
            </a:r>
          </a:p>
          <a:p>
            <a:r>
              <a:rPr sz="1100" dirty="0">
                <a:solidFill>
                  <a:srgbClr val="CCD6E0"/>
                </a:solidFill>
              </a:rPr>
              <a:t>▸ Hook in first 2 lines (≤ 210 chars)</a:t>
            </a:r>
          </a:p>
          <a:p>
            <a:r>
              <a:rPr sz="1100" dirty="0">
                <a:solidFill>
                  <a:srgbClr val="CCD6E0"/>
                </a:solidFill>
              </a:rPr>
              <a:t>▸ 3–5 hashtags appended at the end</a:t>
            </a:r>
          </a:p>
          <a:p>
            <a:r>
              <a:rPr sz="1100" dirty="0">
                <a:solidFill>
                  <a:srgbClr val="CCD6E0"/>
                </a:solidFill>
              </a:rPr>
              <a:t>▸ 0–2 emoji; no URLs in body text</a:t>
            </a:r>
          </a:p>
          <a:p>
            <a:r>
              <a:rPr sz="1100" dirty="0">
                <a:solidFill>
                  <a:srgbClr val="CCD6E0"/>
                </a:solidFill>
              </a:rPr>
              <a:t>▸ Structure: Hook → Story/Data → Insight → CTA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737360"/>
            <a:ext cx="3749039" cy="4846320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51959" y="1737360"/>
            <a:ext cx="3749039" cy="502920"/>
          </a:xfrm>
          <a:prstGeom prst="rect">
            <a:avLst/>
          </a:prstGeom>
          <a:solidFill>
            <a:srgbClr val="15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43399" y="176479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X / Twitter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399" y="22860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D166"/>
                </a:solidFill>
              </a:rPr>
              <a:t>280 char HARD limit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399" y="2606040"/>
            <a:ext cx="3520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CD6E0"/>
                </a:solidFill>
              </a:rPr>
              <a:t>▸ Punchy hook — first 3 words must earn attention</a:t>
            </a:r>
          </a:p>
          <a:p>
            <a:r>
              <a:rPr sz="1100">
                <a:solidFill>
                  <a:srgbClr val="CCD6E0"/>
                </a:solidFill>
              </a:rPr>
              <a:t>▸ HARD 280-char limit (enforced by character_counter tool)</a:t>
            </a:r>
          </a:p>
          <a:p>
            <a:r>
              <a:rPr sz="1100">
                <a:solidFill>
                  <a:srgbClr val="CCD6E0"/>
                </a:solidFill>
              </a:rPr>
              <a:t>▸ Max 2 hashtags (count toward 280 chars)</a:t>
            </a:r>
          </a:p>
          <a:p>
            <a:r>
              <a:rPr sz="1100">
                <a:solidFill>
                  <a:srgbClr val="CCD6E0"/>
                </a:solidFill>
              </a:rPr>
              <a:t>▸ Links count as 23 chars (t.co shortener)</a:t>
            </a:r>
          </a:p>
          <a:p>
            <a:r>
              <a:rPr sz="1100">
                <a:solidFill>
                  <a:srgbClr val="CCD6E0"/>
                </a:solidFill>
              </a:rPr>
              <a:t>▸ 1–2 emoji maximum; text-forward style</a:t>
            </a:r>
          </a:p>
          <a:p>
            <a:r>
              <a:rPr sz="1100">
                <a:solidFill>
                  <a:srgbClr val="CCD6E0"/>
                </a:solidFill>
              </a:rPr>
              <a:t>▸ character_counter tool trims at word boundary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737360"/>
            <a:ext cx="3749039" cy="4846320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1737360"/>
            <a:ext cx="3749039" cy="502920"/>
          </a:xfrm>
          <a:prstGeom prst="rect">
            <a:avLst/>
          </a:prstGeom>
          <a:solidFill>
            <a:srgbClr val="C13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176479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Instagram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2860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D166"/>
                </a:solidFill>
              </a:rPr>
              <a:t>2 200 char limit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606040"/>
            <a:ext cx="3520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CD6E0"/>
                </a:solidFill>
              </a:rPr>
              <a:t>▸ Aspirational, community-driven 'you/your' voice</a:t>
            </a:r>
          </a:p>
          <a:p>
            <a:r>
              <a:rPr sz="1100">
                <a:solidFill>
                  <a:srgbClr val="CCD6E0"/>
                </a:solidFill>
              </a:rPr>
              <a:t>▸ First 125 chars appear before the 'more' fold</a:t>
            </a:r>
          </a:p>
          <a:p>
            <a:r>
              <a:rPr sz="1100">
                <a:solidFill>
                  <a:srgbClr val="CCD6E0"/>
                </a:solidFill>
              </a:rPr>
              <a:t>▸ 5–15 hashtags after 5 blank lines</a:t>
            </a:r>
          </a:p>
          <a:p>
            <a:r>
              <a:rPr sz="1100">
                <a:solidFill>
                  <a:srgbClr val="CCD6E0"/>
                </a:solidFill>
              </a:rPr>
              <a:t>▸ 2–6 emoji for warmth and line breaks</a:t>
            </a:r>
          </a:p>
          <a:p>
            <a:r>
              <a:rPr sz="1100">
                <a:solidFill>
                  <a:srgbClr val="CCD6E0"/>
                </a:solidFill>
              </a:rPr>
              <a:t>▸ Must end with a question or CTA</a:t>
            </a:r>
          </a:p>
          <a:p>
            <a:r>
              <a:rPr sz="1100">
                <a:solidFill>
                  <a:srgbClr val="CCD6E0"/>
                </a:solidFill>
              </a:rPr>
              <a:t>▸ Structure: Hook → Story → Value → CTA → Tags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All 3 agents run in PARALLEL via LangGraph fan-out  •  Selective retry: only failed platforms re-run after Reflect  •  Feedback from previous iteration injected into each agent's prompt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</a:rPr>
              <a:t>AGENTS —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486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Check Agent — Quality Reviewer  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2344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D6E0"/>
                </a:solidFill>
              </a:rPr>
              <a:t>Scores every post against the content plan and quality rubric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5394960" cy="4754880"/>
          </a:xfrm>
          <a:prstGeom prst="rect">
            <a:avLst/>
          </a:prstGeom>
          <a:solidFill>
            <a:srgbClr val="0A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Scoring criteria (per platform)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▸ Alignment with the content plan</a:t>
            </a:r>
          </a:p>
          <a:p>
            <a:r>
              <a:rPr sz="1300">
                <a:solidFill>
                  <a:srgbClr val="FFFFFF"/>
                </a:solidFill>
              </a:rPr>
              <a:t>▸ Tone &amp; format appropriateness for platform</a:t>
            </a:r>
          </a:p>
          <a:p>
            <a:r>
              <a:rPr sz="1300">
                <a:solidFill>
                  <a:srgbClr val="FFFFFF"/>
                </a:solidFill>
              </a:rPr>
              <a:t>▸ Clarity and engagement quality</a:t>
            </a:r>
          </a:p>
          <a:p>
            <a:r>
              <a:rPr sz="1300">
                <a:solidFill>
                  <a:srgbClr val="FFFFFF"/>
                </a:solidFill>
              </a:rPr>
              <a:t>▸ Grammar and polish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Also runs deterministic tool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348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CD6E0"/>
                </a:solidFill>
              </a:rPr>
              <a:t>▸ content_guidelines_checker tool runs on all 3 posts</a:t>
            </a:r>
          </a:p>
          <a:p>
            <a:r>
              <a:rPr sz="1200">
                <a:solidFill>
                  <a:srgbClr val="CCD6E0"/>
                </a:solidFill>
              </a:rPr>
              <a:t>▸ Detects brand safety violations (hate speech, explicit content)</a:t>
            </a:r>
          </a:p>
          <a:p>
            <a:r>
              <a:rPr sz="1200">
                <a:solidFill>
                  <a:srgbClr val="CCD6E0"/>
                </a:solidFill>
              </a:rPr>
              <a:t>▸ Detects over-promotional language</a:t>
            </a:r>
          </a:p>
          <a:p>
            <a:r>
              <a:rPr sz="1200">
                <a:solidFill>
                  <a:srgbClr val="CCD6E0"/>
                </a:solidFill>
              </a:rPr>
              <a:t>▸ Violations appended to feedback — agent must fix next round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5577840" cy="4754880"/>
          </a:xfrm>
          <a:prstGeom prst="rect">
            <a:avLst/>
          </a:prstGeom>
          <a:solidFill>
            <a:srgbClr val="06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874519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96"/>
                </a:solidFill>
              </a:rPr>
              <a:t>Output JSON (structured)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2860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E596"/>
                </a:solidFill>
              </a:rPr>
              <a:t>{
  "linkedin":  {
    "score": 8,
    "issues": "Hook could be stronger",
    "suggestions": "Open with a statistic"
  },
  "x":         { "score": 9,  "issues": "None",
                 "suggestions": "Good as-is" },
  "instagram": { "score": 6,
    "issues": "Missing CTA",
    "suggestions": "Add a question at the end"
  },
  "overall_score": 7.67
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50749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Routing decision after check: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544068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  overall ≥ 8.8         → APPROVE → Format</a:t>
            </a:r>
          </a:p>
          <a:p>
            <a:r>
              <a:rPr sz="1100">
                <a:solidFill>
                  <a:srgbClr val="FFFFFF"/>
                </a:solidFill>
              </a:rPr>
              <a:t>  score stagnated       → APPROVE (avoid wasted loops)</a:t>
            </a:r>
          </a:p>
          <a:p>
            <a:r>
              <a:rPr sz="1100">
                <a:solidFill>
                  <a:srgbClr val="FFFFFF"/>
                </a:solidFill>
              </a:rPr>
              <a:t>  max_iterations hit    → APPROVE (force exit)</a:t>
            </a:r>
          </a:p>
          <a:p>
            <a:r>
              <a:rPr sz="1100">
                <a:solidFill>
                  <a:srgbClr val="FFFFFF"/>
                </a:solidFill>
              </a:rPr>
              <a:t>  otherwise             → REFLECT (targeted replan)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</a:rPr>
              <a:t>AGENTS — REFLECT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48640"/>
            <a:ext cx="11430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 dirty="0">
                <a:solidFill>
                  <a:srgbClr val="FFFFFF"/>
                </a:solidFill>
              </a:rPr>
              <a:t>Re</a:t>
            </a:r>
            <a:r>
              <a:rPr lang="en-IN" sz="3400" b="1" i="0" dirty="0">
                <a:solidFill>
                  <a:srgbClr val="FFFFFF"/>
                </a:solidFill>
              </a:rPr>
              <a:t>plan</a:t>
            </a:r>
            <a:r>
              <a:rPr sz="3400" b="1" i="0" dirty="0">
                <a:solidFill>
                  <a:srgbClr val="FFFFFF"/>
                </a:solidFill>
              </a:rPr>
              <a:t> Agent — </a:t>
            </a:r>
            <a:r>
              <a:rPr lang="en-IN" sz="3400" b="1" i="0" dirty="0">
                <a:solidFill>
                  <a:srgbClr val="FFFFFF"/>
                </a:solidFill>
              </a:rPr>
              <a:t>Overall and </a:t>
            </a:r>
            <a:r>
              <a:rPr sz="3400" b="1" i="0" dirty="0">
                <a:solidFill>
                  <a:srgbClr val="FFFFFF"/>
                </a:solidFill>
              </a:rPr>
              <a:t>Targeted </a:t>
            </a:r>
            <a:r>
              <a:rPr sz="3400" b="1" i="0" dirty="0" err="1">
                <a:solidFill>
                  <a:srgbClr val="FFFFFF"/>
                </a:solidFill>
              </a:rPr>
              <a:t>Replanner</a:t>
            </a:r>
            <a:r>
              <a:rPr sz="3400" b="1" i="0" dirty="0">
                <a:solidFill>
                  <a:srgbClr val="FFFFFF"/>
                </a:solidFill>
              </a:rPr>
              <a:t>  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2344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D6E0"/>
                </a:solidFill>
              </a:rPr>
              <a:t>Only retries platforms that failed — not the entire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5394960" cy="4754880"/>
          </a:xfrm>
          <a:prstGeom prst="rect">
            <a:avLst/>
          </a:prstGeom>
          <a:solidFill>
            <a:srgbClr val="1A0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2FFF"/>
                </a:solidFill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▸ Reads per-platform scores from Check feedback</a:t>
            </a:r>
          </a:p>
          <a:p>
            <a:r>
              <a:rPr sz="1300">
                <a:solidFill>
                  <a:srgbClr val="FFFFFF"/>
                </a:solidFill>
              </a:rPr>
              <a:t>▸ Identifies failing platforms (score &lt; 7.0 threshold)</a:t>
            </a:r>
          </a:p>
          <a:p>
            <a:r>
              <a:rPr sz="1300">
                <a:solidFill>
                  <a:srgbClr val="FFFFFF"/>
                </a:solidFill>
              </a:rPr>
              <a:t>▸ If none below threshold, retries the single lowest scorer</a:t>
            </a:r>
          </a:p>
          <a:p>
            <a:r>
              <a:rPr sz="1300">
                <a:solidFill>
                  <a:srgbClr val="FFFFFF"/>
                </a:solidFill>
              </a:rPr>
              <a:t>▸ Calls LLM with failing feedback → produces revised plan</a:t>
            </a:r>
          </a:p>
          <a:p>
            <a:r>
              <a:rPr sz="1300">
                <a:solidFill>
                  <a:srgbClr val="FFFFFF"/>
                </a:solidFill>
              </a:rPr>
              <a:t>▸ Sets platforms_to_retry in state</a:t>
            </a:r>
          </a:p>
          <a:p>
            <a:r>
              <a:rPr sz="1300">
                <a:solidFill>
                  <a:srgbClr val="FFFFFF"/>
                </a:solidFill>
              </a:rPr>
              <a:t>▸ Fan-out in next iteration only dispatches failing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2FFF"/>
                </a:solidFill>
              </a:rPr>
              <a:t>Why targeted, not full replan?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49240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CCD6E0"/>
                </a:solidFill>
              </a:rPr>
              <a:t>▸ Saves LLM calls per iteration (passing platforms skip)</a:t>
            </a:r>
          </a:p>
          <a:p>
            <a:r>
              <a:rPr sz="1200" dirty="0">
                <a:solidFill>
                  <a:srgbClr val="CCD6E0"/>
                </a:solidFill>
              </a:rPr>
              <a:t>▸ Avoids regressing already-good posts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5577840" cy="4754880"/>
          </a:xfrm>
          <a:prstGeom prst="rect">
            <a:avLst/>
          </a:prstGeom>
          <a:solidFill>
            <a:srgbClr val="1A0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874519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2FFF"/>
                </a:solidFill>
              </a:rPr>
              <a:t>Iteration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2860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D6E0"/>
                </a:solidFill>
              </a:rPr>
              <a:t>Iter 1 — CHECK output: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560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LinkedIn: 8.5   X: 9.0   Instagram: 5.5   overall: 7.67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017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REFLECT decision: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918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Only Instagram failed (5.5 &lt; 7.0 threshold)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7490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platforms_to_retry = ['instagram']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0233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LinkedIn &amp; X agents are SKIPPED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4805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96"/>
                </a:solidFill>
              </a:rPr>
              <a:t>Iter 2 — CHECK output: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7548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Instagram: 8.0   overall: 8.5 → APPROVED 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5577840"/>
            <a:ext cx="5577840" cy="822960"/>
          </a:xfrm>
          <a:prstGeom prst="rect">
            <a:avLst/>
          </a:prstGeom>
          <a:solidFill>
            <a:srgbClr val="102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60" y="562356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96"/>
                </a:solidFill>
              </a:rPr>
              <a:t>Result: 5 LLM calls instead of 7 in 2 iterations
(saved 2 × Act calls for passing platforms)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</a:rPr>
              <a:t>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486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Tools — Agent Capabilities  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2344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D6E0"/>
                </a:solidFill>
              </a:rPr>
              <a:t>LangChain @tool functions — deterministic helpers for agent nodes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5394960" cy="2057400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5394960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🌐  web_search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DuckDuckGo live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1460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▸ Used by Planner agent (×2 per generation)</a:t>
            </a:r>
          </a:p>
          <a:p>
            <a:r>
              <a:rPr sz="1100">
                <a:solidFill>
                  <a:srgbClr val="FFFFFF"/>
                </a:solidFill>
              </a:rPr>
              <a:t>▸ Fetches topic research + trending content</a:t>
            </a:r>
          </a:p>
          <a:p>
            <a:r>
              <a:rPr sz="1100">
                <a:solidFill>
                  <a:srgbClr val="FFFFFF"/>
                </a:solidFill>
              </a:rPr>
              <a:t>▸ Returns title, URL, snippet for each result</a:t>
            </a:r>
          </a:p>
          <a:p>
            <a:r>
              <a:rPr sz="1100">
                <a:solidFill>
                  <a:srgbClr val="FFFFFF"/>
                </a:solidFill>
              </a:rPr>
              <a:t>▸ Caps at 10 results to control payload size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114800"/>
            <a:ext cx="5394960" cy="2057400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4114800"/>
            <a:ext cx="5394960" cy="73152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2FFF"/>
                </a:solidFill>
              </a:rPr>
              <a:t>📎  read_uploaded_file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2628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Extract text from uploaded 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00600"/>
            <a:ext cx="51206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FFFFFF"/>
                </a:solidFill>
              </a:rPr>
              <a:t>▸ Supports .txt, .md, .</a:t>
            </a:r>
            <a:r>
              <a:rPr sz="1100" dirty="0" err="1">
                <a:solidFill>
                  <a:srgbClr val="FFFFFF"/>
                </a:solidFill>
              </a:rPr>
              <a:t>rst</a:t>
            </a:r>
            <a:r>
              <a:rPr sz="1100" dirty="0">
                <a:solidFill>
                  <a:srgbClr val="FFFFFF"/>
                </a:solidFill>
              </a:rPr>
              <a:t>, .csv, .pdf</a:t>
            </a:r>
          </a:p>
          <a:p>
            <a:r>
              <a:rPr sz="1100" dirty="0">
                <a:solidFill>
                  <a:srgbClr val="FFFFFF"/>
                </a:solidFill>
              </a:rPr>
              <a:t>▸ PDF extraction via </a:t>
            </a:r>
            <a:r>
              <a:rPr sz="1100" dirty="0" err="1">
                <a:solidFill>
                  <a:srgbClr val="FFFFFF"/>
                </a:solidFill>
              </a:rPr>
              <a:t>pypdf</a:t>
            </a:r>
            <a:r>
              <a:rPr sz="1100" dirty="0">
                <a:solidFill>
                  <a:srgbClr val="FFFFFF"/>
                </a:solidFill>
              </a:rPr>
              <a:t> library</a:t>
            </a:r>
          </a:p>
          <a:p>
            <a:r>
              <a:rPr sz="1100" dirty="0">
                <a:solidFill>
                  <a:srgbClr val="FFFFFF"/>
                </a:solidFill>
              </a:rPr>
              <a:t>▸ Truncates to 8000 chars to fit prompt budget</a:t>
            </a:r>
          </a:p>
          <a:p>
            <a:r>
              <a:rPr sz="1100" dirty="0">
                <a:solidFill>
                  <a:srgbClr val="FFFFFF"/>
                </a:solidFill>
              </a:rPr>
              <a:t>▸ Error-safe: guards against malformed files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828800"/>
            <a:ext cx="5394960" cy="2057400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828800"/>
            <a:ext cx="5394960" cy="7315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19202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96"/>
                </a:solidFill>
              </a:rPr>
              <a:t>🌐  read_url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24028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Fetch &amp; strip HTML from a URL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514600"/>
            <a:ext cx="51206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FFFFFF"/>
                </a:solidFill>
              </a:rPr>
              <a:t>▸ Uses </a:t>
            </a:r>
            <a:r>
              <a:rPr sz="1100" dirty="0" err="1">
                <a:solidFill>
                  <a:srgbClr val="FFFFFF"/>
                </a:solidFill>
              </a:rPr>
              <a:t>stdlib</a:t>
            </a:r>
            <a:r>
              <a:rPr sz="1100" dirty="0">
                <a:solidFill>
                  <a:srgbClr val="FFFFFF"/>
                </a:solidFill>
              </a:rPr>
              <a:t> </a:t>
            </a:r>
            <a:r>
              <a:rPr sz="1100" dirty="0" err="1">
                <a:solidFill>
                  <a:srgbClr val="FFFFFF"/>
                </a:solidFill>
              </a:rPr>
              <a:t>urllib</a:t>
            </a:r>
            <a:r>
              <a:rPr sz="1100" dirty="0">
                <a:solidFill>
                  <a:srgbClr val="FFFFFF"/>
                </a:solidFill>
              </a:rPr>
              <a:t> — no heavy dependencies</a:t>
            </a:r>
          </a:p>
          <a:p>
            <a:r>
              <a:rPr sz="1100" dirty="0">
                <a:solidFill>
                  <a:srgbClr val="FFFFFF"/>
                </a:solidFill>
              </a:rPr>
              <a:t>▸ Strips &lt;script&gt;, &lt;nav&gt;, &lt;footer&gt; tags</a:t>
            </a:r>
          </a:p>
          <a:p>
            <a:r>
              <a:rPr sz="1100" dirty="0">
                <a:solidFill>
                  <a:srgbClr val="FFFFFF"/>
                </a:solidFill>
              </a:rPr>
              <a:t>▸ Returns clean article body text</a:t>
            </a:r>
          </a:p>
          <a:p>
            <a:r>
              <a:rPr sz="1100" dirty="0">
                <a:solidFill>
                  <a:srgbClr val="FFFFFF"/>
                </a:solidFill>
              </a:rPr>
              <a:t>▸ Truncates to 8000 chars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114800"/>
            <a:ext cx="5394960" cy="2057400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4114800"/>
            <a:ext cx="5394960" cy="7315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42062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📏  character_counter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52628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Enforce X/Twitter 280-char limit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80060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▸ Deterministic — no LLM needed</a:t>
            </a:r>
          </a:p>
          <a:p>
            <a:r>
              <a:rPr sz="1100">
                <a:solidFill>
                  <a:srgbClr val="FFFFFF"/>
                </a:solidFill>
              </a:rPr>
              <a:t>▸ Trims at word boundary (not mid-word)</a:t>
            </a:r>
          </a:p>
          <a:p>
            <a:r>
              <a:rPr sz="1100">
                <a:solidFill>
                  <a:srgbClr val="FFFFFF"/>
                </a:solidFill>
              </a:rPr>
              <a:t>▸ Returns trimmed flag + final text</a:t>
            </a:r>
          </a:p>
          <a:p>
            <a:r>
              <a:rPr sz="1100">
                <a:solidFill>
                  <a:srgbClr val="FFFFFF"/>
                </a:solidFill>
              </a:rPr>
              <a:t>▸ Used by X agent after every generation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6217920"/>
            <a:ext cx="11430000" cy="457200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6236208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35"/>
                </a:solidFill>
              </a:rPr>
              <a:t>🛡  content_guidelines_checker — Deterministic brand-safety validator: detects prohibited content, over-promotion &amp; platform violations. Runs alongside the LLM reviewer in the Check node.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</a:rPr>
              <a:t>OPTIMISATION — PROMPT CACHING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48640"/>
            <a:ext cx="11430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 dirty="0">
                <a:solidFill>
                  <a:srgbClr val="FFFFFF"/>
                </a:solidFill>
              </a:rPr>
              <a:t>Prompt Caching</a:t>
            </a:r>
            <a:r>
              <a:rPr lang="en-IN" sz="3400" b="1" i="0" dirty="0">
                <a:solidFill>
                  <a:srgbClr val="FFFFFF"/>
                </a:solidFill>
              </a:rPr>
              <a:t> ⚡</a:t>
            </a:r>
            <a:endParaRPr sz="3400" b="1" i="0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12344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D6E0"/>
                </a:solidFill>
              </a:rPr>
              <a:t>Azure OpenAI automatic prefix caching — reduces cost &amp; latency on repeated calls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5394960" cy="4754880"/>
          </a:xfrm>
          <a:prstGeom prst="rect">
            <a:avLst/>
          </a:prstGeom>
          <a:solidFill>
            <a:srgbClr val="0A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51206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FFFFFF"/>
                </a:solidFill>
              </a:rPr>
              <a:t>▸ Every </a:t>
            </a:r>
            <a:r>
              <a:rPr sz="1200" dirty="0" err="1">
                <a:solidFill>
                  <a:srgbClr val="FFFFFF"/>
                </a:solidFill>
              </a:rPr>
              <a:t>invoke_cached</a:t>
            </a:r>
            <a:r>
              <a:rPr sz="1200" dirty="0">
                <a:solidFill>
                  <a:srgbClr val="FFFFFF"/>
                </a:solidFill>
              </a:rPr>
              <a:t>() call sends 2 messages:</a:t>
            </a:r>
          </a:p>
          <a:p>
            <a:r>
              <a:rPr sz="1200" dirty="0">
                <a:solidFill>
                  <a:srgbClr val="FFFFFF"/>
                </a:solidFill>
              </a:rPr>
              <a:t>▸   </a:t>
            </a:r>
            <a:r>
              <a:rPr sz="1200" dirty="0" err="1">
                <a:solidFill>
                  <a:srgbClr val="FFFFFF"/>
                </a:solidFill>
              </a:rPr>
              <a:t>SystemMessage</a:t>
            </a:r>
            <a:r>
              <a:rPr sz="1200" dirty="0">
                <a:solidFill>
                  <a:srgbClr val="FFFFFF"/>
                </a:solidFill>
              </a:rPr>
              <a:t>: _CACHE_ANCHOR + agent-specific prompt</a:t>
            </a:r>
          </a:p>
          <a:p>
            <a:r>
              <a:rPr sz="1200" dirty="0">
                <a:solidFill>
                  <a:srgbClr val="FFFFFF"/>
                </a:solidFill>
              </a:rPr>
              <a:t>▸   </a:t>
            </a:r>
            <a:r>
              <a:rPr sz="1200" dirty="0" err="1">
                <a:solidFill>
                  <a:srgbClr val="FFFFFF"/>
                </a:solidFill>
              </a:rPr>
              <a:t>HumanMessage</a:t>
            </a:r>
            <a:r>
              <a:rPr sz="1200" dirty="0">
                <a:solidFill>
                  <a:srgbClr val="FFFFFF"/>
                </a:solidFill>
              </a:rPr>
              <a:t> : dynamic per-request content</a:t>
            </a:r>
          </a:p>
          <a:p>
            <a:r>
              <a:rPr sz="1200" dirty="0">
                <a:solidFill>
                  <a:srgbClr val="FFFFFF"/>
                </a:solidFill>
              </a:rPr>
              <a:t>▸ _CACHE_ANCHOR is ~1100 tokens — identical for ALL agents</a:t>
            </a:r>
          </a:p>
          <a:p>
            <a:r>
              <a:rPr sz="1200" dirty="0">
                <a:solidFill>
                  <a:srgbClr val="FFFFFF"/>
                </a:solidFill>
              </a:rPr>
              <a:t>▸ Azure caches automatically when same prefix ≥ 1024 tokens</a:t>
            </a:r>
          </a:p>
          <a:p>
            <a:r>
              <a:rPr sz="1200" dirty="0">
                <a:solidFill>
                  <a:srgbClr val="FFFFFF"/>
                </a:solidFill>
              </a:rPr>
              <a:t>▸ Cache HIT from the 2nd request onward (same session)</a:t>
            </a:r>
          </a:p>
          <a:p>
            <a:r>
              <a:rPr sz="1200" dirty="0">
                <a:solidFill>
                  <a:srgbClr val="FFFFFF"/>
                </a:solidFill>
              </a:rPr>
              <a:t>▸ </a:t>
            </a:r>
            <a:r>
              <a:rPr sz="1200" dirty="0" err="1">
                <a:solidFill>
                  <a:srgbClr val="FFFFFF"/>
                </a:solidFill>
              </a:rPr>
              <a:t>prompt_cache_key</a:t>
            </a:r>
            <a:r>
              <a:rPr sz="1200" dirty="0">
                <a:solidFill>
                  <a:srgbClr val="FFFFFF"/>
                </a:solidFill>
              </a:rPr>
              <a:t> = '</a:t>
            </a:r>
            <a:r>
              <a:rPr sz="1200" dirty="0" err="1">
                <a:solidFill>
                  <a:srgbClr val="FFFFFF"/>
                </a:solidFill>
              </a:rPr>
              <a:t>langchain</a:t>
            </a:r>
            <a:r>
              <a:rPr sz="1200" dirty="0">
                <a:solidFill>
                  <a:srgbClr val="FFFFFF"/>
                </a:solidFill>
              </a:rPr>
              <a:t>-prompt-caching' signals Azure</a:t>
            </a:r>
          </a:p>
          <a:p>
            <a:r>
              <a:rPr sz="1200" dirty="0">
                <a:solidFill>
                  <a:srgbClr val="FFFFFF"/>
                </a:solidFill>
              </a:rPr>
              <a:t>▸ API version 2024-12-01-preview required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44087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0C2FF"/>
                </a:solidFill>
              </a:rPr>
              <a:t>Token savings per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773169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CCD6E0"/>
                </a:solidFill>
              </a:rPr>
              <a:t>8 LLM calls × ~1 100 cached tokens = 8 800 cached tokens/run
Cached tokens billed at ~50% vs standard prompt tokens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5577840" cy="4754880"/>
          </a:xfrm>
          <a:prstGeom prst="rect">
            <a:avLst/>
          </a:prstGeom>
          <a:solidFill>
            <a:srgbClr val="0612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874519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96"/>
                </a:solidFill>
              </a:rPr>
              <a:t>invoke_cached() helper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286000"/>
            <a:ext cx="5303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E596"/>
                </a:solidFill>
              </a:rPr>
              <a:t>def invoke_cached(system_text, human_text, logger) -&gt; LLMResult:
    messages = [
        SystemMessage(
            content=_CACHE_ANCHOR + system_text  # ← static prefix
        ),
        HumanMessage(content=human_text),  # ← dynamic
    ]
    response = llm.invoke(messages)
    cached_tokens = response.response_metadata\
        ["token_usage"]["prompt_tokens_details"]\
        ["cached_tokens"]
    return LLMResult(
        content=str(response.content),
        cache_status="HIT" if cached_tokens &gt; 0 else "MISS",
        usage={...},  # prompt/completion/total/cached
        message=response,
    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6492240"/>
            <a:ext cx="11430000" cy="228600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3065" y="6505957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CD6E0"/>
                </a:solidFill>
              </a:rPr>
              <a:t>Response includes: </a:t>
            </a:r>
            <a:r>
              <a:rPr sz="900" b="0" i="0" dirty="0" err="1">
                <a:solidFill>
                  <a:srgbClr val="CCD6E0"/>
                </a:solidFill>
              </a:rPr>
              <a:t>token_usage</a:t>
            </a:r>
            <a:r>
              <a:rPr sz="900" b="0" i="0" dirty="0">
                <a:solidFill>
                  <a:srgbClr val="CCD6E0"/>
                </a:solidFill>
              </a:rPr>
              <a:t> { </a:t>
            </a:r>
            <a:r>
              <a:rPr sz="900" b="0" i="0" dirty="0" err="1">
                <a:solidFill>
                  <a:srgbClr val="CCD6E0"/>
                </a:solidFill>
              </a:rPr>
              <a:t>prompt_tokens</a:t>
            </a:r>
            <a:r>
              <a:rPr sz="900" b="0" i="0" dirty="0">
                <a:solidFill>
                  <a:srgbClr val="CCD6E0"/>
                </a:solidFill>
              </a:rPr>
              <a:t>, </a:t>
            </a:r>
            <a:r>
              <a:rPr sz="900" b="0" i="0" dirty="0" err="1">
                <a:solidFill>
                  <a:srgbClr val="CCD6E0"/>
                </a:solidFill>
              </a:rPr>
              <a:t>completion_tokens</a:t>
            </a:r>
            <a:r>
              <a:rPr sz="900" b="0" i="0" dirty="0">
                <a:solidFill>
                  <a:srgbClr val="CCD6E0"/>
                </a:solidFill>
              </a:rPr>
              <a:t>, </a:t>
            </a:r>
            <a:r>
              <a:rPr sz="900" b="0" i="0" dirty="0" err="1">
                <a:solidFill>
                  <a:srgbClr val="CCD6E0"/>
                </a:solidFill>
              </a:rPr>
              <a:t>total_tokens</a:t>
            </a:r>
            <a:r>
              <a:rPr sz="900" b="0" i="0" dirty="0">
                <a:solidFill>
                  <a:srgbClr val="CCD6E0"/>
                </a:solidFill>
              </a:rPr>
              <a:t>, </a:t>
            </a:r>
            <a:r>
              <a:rPr sz="900" b="0" i="0" dirty="0" err="1">
                <a:solidFill>
                  <a:srgbClr val="CCD6E0"/>
                </a:solidFill>
              </a:rPr>
              <a:t>cached_tokens</a:t>
            </a:r>
            <a:r>
              <a:rPr sz="900" b="0" i="0" dirty="0">
                <a:solidFill>
                  <a:srgbClr val="CCD6E0"/>
                </a:solidFill>
              </a:rPr>
              <a:t>, </a:t>
            </a:r>
            <a:r>
              <a:rPr sz="900" b="0" i="0" dirty="0" err="1">
                <a:solidFill>
                  <a:srgbClr val="CCD6E0"/>
                </a:solidFill>
              </a:rPr>
              <a:t>cache_hits</a:t>
            </a:r>
            <a:r>
              <a:rPr sz="900" b="0" i="0" dirty="0">
                <a:solidFill>
                  <a:srgbClr val="CCD6E0"/>
                </a:solidFill>
              </a:rPr>
              <a:t>, </a:t>
            </a:r>
            <a:r>
              <a:rPr sz="900" b="0" i="0" dirty="0" err="1">
                <a:solidFill>
                  <a:srgbClr val="CCD6E0"/>
                </a:solidFill>
              </a:rPr>
              <a:t>cache_misses</a:t>
            </a:r>
            <a:r>
              <a:rPr sz="900" b="0" i="0" dirty="0">
                <a:solidFill>
                  <a:srgbClr val="CCD6E0"/>
                </a:solidFill>
              </a:rPr>
              <a:t> } — returned in meta field of /generate response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</a:rPr>
              <a:t>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486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FastAPI Endpoints  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2344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D6E0"/>
                </a:solidFill>
              </a:rPr>
              <a:t>Two REST endpoints — upload source material then generate content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11430000" cy="2103120"/>
          </a:xfrm>
          <a:prstGeom prst="rect">
            <a:avLst/>
          </a:prstGeom>
          <a:solidFill>
            <a:srgbClr val="0A2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1188720" cy="2103120"/>
          </a:xfrm>
          <a:prstGeom prst="rect">
            <a:avLst/>
          </a:prstGeom>
          <a:solidFill>
            <a:srgbClr val="00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24688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7451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E596"/>
                </a:solidFill>
              </a:rPr>
              <a:t>/upload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31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multipart/form-data  •  field: 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65176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Accepts .txt .md .rst .csv .pdf  •  Saves with random hex name  •  Returns: { "file_path": "uploads/a3f...", "original_filename": "post.pdf"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10896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D166"/>
                </a:solidFill>
              </a:rPr>
              <a:t>Pass file_path as uploaded_file_path in /generate request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114800"/>
            <a:ext cx="11430000" cy="2468880"/>
          </a:xfrm>
          <a:prstGeom prst="rect">
            <a:avLst/>
          </a:prstGeom>
          <a:solidFill>
            <a:srgbClr val="0A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4114800"/>
            <a:ext cx="1188720" cy="2468880"/>
          </a:xfrm>
          <a:prstGeom prst="rect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50292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160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2FF"/>
                </a:solidFill>
              </a:rPr>
              <a:t>/generate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617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application/json  •  ContentRequest body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983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6E0"/>
                </a:solidFill>
              </a:rPr>
              <a:t>Request: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25780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{
  "input_content": "...",   // optional
  "source_url": "https://...", // optional
  "uploaded_file_path": "...", // optional  ← at least one required
  "max_iterations": 3          // default
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983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6E0"/>
                </a:solidFill>
              </a:rPr>
              <a:t>Response: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257800"/>
            <a:ext cx="50292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E596"/>
                </a:solidFill>
              </a:rPr>
              <a:t>{
  "linkedin":  { "content": "...", "status": "ready" },
  "twitter":   { "content": "...", "status": "ready" },
  "instagram": { "content": "...", "status": "ready" },
  "meta": { "iterations": 2, "overall_score": 8.9,
            "approved": true,
            "token_usage": { "prompt_tokens": 4800,
              "cached_tokens": 3200, "cache_hits": 5 } }
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</a:rPr>
              <a:t>KEY INNOVATIONS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486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Key Innovations &amp; Challenges Solved  💡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5486400" cy="2331720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5486400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93852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🔄  Targeted Reflection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▸ Standard reflect = rerun ALL agents every iteration</a:t>
            </a:r>
          </a:p>
          <a:p>
            <a:r>
              <a:rPr sz="1200">
                <a:solidFill>
                  <a:srgbClr val="FFFFFF"/>
                </a:solidFill>
              </a:rPr>
              <a:t>▸ Our approach: only retry platforms scoring &lt; 7.0</a:t>
            </a:r>
          </a:p>
          <a:p>
            <a:r>
              <a:rPr sz="1200">
                <a:solidFill>
                  <a:srgbClr val="FFFFFF"/>
                </a:solidFill>
              </a:rPr>
              <a:t>▸ Prevents oscillation where passing platforms regress</a:t>
            </a:r>
          </a:p>
          <a:p>
            <a:r>
              <a:rPr sz="1200">
                <a:solidFill>
                  <a:srgbClr val="FFFFFF"/>
                </a:solidFill>
              </a:rPr>
              <a:t>▸ Saves 2–4 LLM calls per iteration in multi-platform setup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828800"/>
            <a:ext cx="5486400" cy="2331720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828800"/>
            <a:ext cx="5486400" cy="7315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93852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96"/>
                </a:solidFill>
              </a:rPr>
              <a:t>⚡  Prompt Caching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77440"/>
            <a:ext cx="53035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FFFFFF"/>
                </a:solidFill>
              </a:rPr>
              <a:t>▸ Shared 1100-token agency brief as common prefix</a:t>
            </a:r>
          </a:p>
          <a:p>
            <a:r>
              <a:rPr sz="1200" dirty="0">
                <a:solidFill>
                  <a:srgbClr val="FFFFFF"/>
                </a:solidFill>
              </a:rPr>
              <a:t>▸ All 8 calls/run share the same cacheable prefix</a:t>
            </a:r>
          </a:p>
          <a:p>
            <a:r>
              <a:rPr sz="1200" dirty="0">
                <a:solidFill>
                  <a:srgbClr val="FFFFFF"/>
                </a:solidFill>
              </a:rPr>
              <a:t>▸ Cache HIT from second request = ~50% cost reduction</a:t>
            </a:r>
          </a:p>
          <a:p>
            <a:r>
              <a:rPr sz="1200" dirty="0">
                <a:solidFill>
                  <a:srgbClr val="FFFFFF"/>
                </a:solidFill>
              </a:rPr>
              <a:t>▸ </a:t>
            </a:r>
            <a:r>
              <a:rPr sz="1200" dirty="0" err="1">
                <a:solidFill>
                  <a:srgbClr val="FFFFFF"/>
                </a:solidFill>
              </a:rPr>
              <a:t>LLMResult</a:t>
            </a:r>
            <a:r>
              <a:rPr sz="1200" dirty="0">
                <a:solidFill>
                  <a:srgbClr val="FFFFFF"/>
                </a:solidFill>
              </a:rPr>
              <a:t> </a:t>
            </a:r>
            <a:r>
              <a:rPr sz="1200" dirty="0" err="1">
                <a:solidFill>
                  <a:srgbClr val="FFFFFF"/>
                </a:solidFill>
              </a:rPr>
              <a:t>dataclass</a:t>
            </a:r>
            <a:r>
              <a:rPr sz="1200" dirty="0">
                <a:solidFill>
                  <a:srgbClr val="FFFFFF"/>
                </a:solidFill>
              </a:rPr>
              <a:t> surfaces </a:t>
            </a:r>
            <a:r>
              <a:rPr sz="1200" dirty="0" err="1">
                <a:solidFill>
                  <a:srgbClr val="FFFFFF"/>
                </a:solidFill>
              </a:rPr>
              <a:t>cache_status</a:t>
            </a:r>
            <a:r>
              <a:rPr sz="1200" dirty="0">
                <a:solidFill>
                  <a:srgbClr val="FFFFFF"/>
                </a:solidFill>
              </a:rPr>
              <a:t> per call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343400"/>
            <a:ext cx="5486400" cy="2331720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4343400"/>
            <a:ext cx="5486400" cy="7315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445312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📊  Score Stagnation Guard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92040"/>
            <a:ext cx="53035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FFFFFF"/>
                </a:solidFill>
              </a:rPr>
              <a:t>▸ Problem: LLM reviewers have a scoring ceiling (~8.</a:t>
            </a:r>
            <a:r>
              <a:rPr lang="en-IN" sz="1200" dirty="0">
                <a:solidFill>
                  <a:srgbClr val="FFFFFF"/>
                </a:solidFill>
              </a:rPr>
              <a:t>0</a:t>
            </a:r>
            <a:r>
              <a:rPr sz="1200" dirty="0">
                <a:solidFill>
                  <a:srgbClr val="FFFFFF"/>
                </a:solidFill>
              </a:rPr>
              <a:t>)</a:t>
            </a:r>
          </a:p>
          <a:p>
            <a:r>
              <a:rPr sz="1200" dirty="0">
                <a:solidFill>
                  <a:srgbClr val="FFFFFF"/>
                </a:solidFill>
              </a:rPr>
              <a:t>▸ Without guard: 3 iterations all score </a:t>
            </a:r>
            <a:r>
              <a:rPr lang="en-IN" sz="1200" dirty="0">
                <a:solidFill>
                  <a:srgbClr val="FFFFFF"/>
                </a:solidFill>
              </a:rPr>
              <a:t>the same or less as previous iterations</a:t>
            </a:r>
            <a:r>
              <a:rPr sz="1200" dirty="0">
                <a:solidFill>
                  <a:srgbClr val="FFFFFF"/>
                </a:solidFill>
              </a:rPr>
              <a:t>, all </a:t>
            </a:r>
            <a:r>
              <a:rPr lang="en-IN" sz="1200" dirty="0">
                <a:solidFill>
                  <a:srgbClr val="FFFFFF"/>
                </a:solidFill>
              </a:rPr>
              <a:t>     </a:t>
            </a:r>
            <a:r>
              <a:rPr sz="1200" dirty="0">
                <a:solidFill>
                  <a:srgbClr val="FFFFFF"/>
                </a:solidFill>
              </a:rPr>
              <a:t>waste tokens</a:t>
            </a:r>
          </a:p>
          <a:p>
            <a:r>
              <a:rPr sz="1200" dirty="0">
                <a:solidFill>
                  <a:srgbClr val="FFFFFF"/>
                </a:solidFill>
              </a:rPr>
              <a:t>▸ Fix: exit loop if score didn't improve vs previous iteration</a:t>
            </a:r>
          </a:p>
          <a:p>
            <a:r>
              <a:rPr sz="1200" dirty="0">
                <a:solidFill>
                  <a:srgbClr val="FFFFFF"/>
                </a:solidFill>
              </a:rPr>
              <a:t>▸ Combined with lowered threshold (8.</a:t>
            </a:r>
            <a:r>
              <a:rPr lang="en-IN" sz="1200" dirty="0">
                <a:solidFill>
                  <a:srgbClr val="FFFFFF"/>
                </a:solidFill>
              </a:rPr>
              <a:t>0</a:t>
            </a:r>
            <a:r>
              <a:rPr sz="1200" dirty="0">
                <a:solidFill>
                  <a:srgbClr val="FFFFFF"/>
                </a:solidFill>
              </a:rPr>
              <a:t>) prevents wasted loops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4343400"/>
            <a:ext cx="5486400" cy="2331720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4343400"/>
            <a:ext cx="548640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445312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📎  Multi-Source 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89204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▸ Any combination of: text brief / URL / uploaded file</a:t>
            </a:r>
          </a:p>
          <a:p>
            <a:r>
              <a:rPr sz="1200">
                <a:solidFill>
                  <a:srgbClr val="FFFFFF"/>
                </a:solidFill>
              </a:rPr>
              <a:t>▸ PDF extraction (pypdf), HTML stripping (stdlib urllib)</a:t>
            </a:r>
          </a:p>
          <a:p>
            <a:r>
              <a:rPr sz="1200">
                <a:solidFill>
                  <a:srgbClr val="FFFFFF"/>
                </a:solidFill>
              </a:rPr>
              <a:t>▸ All three source fields optional — at least one required</a:t>
            </a:r>
          </a:p>
          <a:p>
            <a:r>
              <a:rPr sz="1200">
                <a:solidFill>
                  <a:srgbClr val="FFFFFF"/>
                </a:solidFill>
              </a:rPr>
              <a:t>▸ Error-string guard prevents tool errors from poisoning plan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Thank You  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C2FF"/>
                </a:solidFill>
              </a:rPr>
              <a:t>Autonomous Social Media Content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5486400" cy="868680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5486400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9019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Multi-Agent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58568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Plan-Act-Check-Reflect (LangGraph state machine)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828800"/>
            <a:ext cx="5486400" cy="868680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828800"/>
            <a:ext cx="548640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9019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96"/>
                </a:solidFill>
              </a:rPr>
              <a:t>Parallelism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58568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3 platform agents run concurrently via fan-out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834640"/>
            <a:ext cx="5486400" cy="868680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2834640"/>
            <a:ext cx="5486400" cy="54864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9077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B2FFF"/>
                </a:solidFill>
              </a:rPr>
              <a:t>Self-correction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64408"/>
            <a:ext cx="5303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</a:rPr>
              <a:t>Targeted </a:t>
            </a:r>
            <a:r>
              <a:rPr lang="en-IN" sz="1100" dirty="0" err="1">
                <a:solidFill>
                  <a:srgbClr val="FFFFFF"/>
                </a:solidFill>
              </a:rPr>
              <a:t>Replan</a:t>
            </a:r>
            <a:r>
              <a:rPr sz="1100" b="0" i="0" dirty="0">
                <a:solidFill>
                  <a:srgbClr val="FFFFFF"/>
                </a:solidFill>
              </a:rPr>
              <a:t> loop — only failing agents retry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834640"/>
            <a:ext cx="5486400" cy="868680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2834640"/>
            <a:ext cx="5486400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29077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Source flexibility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264408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Text  /  URL  /  Uploaded file (PDF, TXT, MD…)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840480"/>
            <a:ext cx="5486400" cy="868680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3840480"/>
            <a:ext cx="54864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39136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Quality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270248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LLM scorer + deterministic brand-safety checker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840480"/>
            <a:ext cx="5486400" cy="868680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09360" y="3840480"/>
            <a:ext cx="5486400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39136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Cost optimisation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270248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Prompt caching — shared 1 100-token static prefix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846320"/>
            <a:ext cx="5486400" cy="868680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65760" y="4846320"/>
            <a:ext cx="5486400" cy="54864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49194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D6E0"/>
                </a:solidFill>
              </a:rPr>
              <a:t>Observability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276088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token_usage in every response (HIT/MISS per call)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846320"/>
            <a:ext cx="5486400" cy="868680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309360" y="4846320"/>
            <a:ext cx="548640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49194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96"/>
                </a:solidFill>
              </a:rPr>
              <a:t>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276088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FastAPI — /upload  +  /generate endpoints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" y="60807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0"/>
                </a:solidFill>
              </a:rPr>
              <a:t>Contributors: Himanshu Jain  •  Prashanchal Sharma                    Built with: LangGraph  •  LangChain  •  Azure OpenAI  •  FastAPI  •  Python 3.13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2155</Words>
  <Application>Microsoft Office PowerPoint</Application>
  <PresentationFormat>Custom</PresentationFormat>
  <Paragraphs>318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Vijeta Jain</cp:lastModifiedBy>
  <cp:revision>22</cp:revision>
  <dcterms:created xsi:type="dcterms:W3CDTF">2013-01-27T09:14:16Z</dcterms:created>
  <dcterms:modified xsi:type="dcterms:W3CDTF">2026-04-29T08:29:07Z</dcterms:modified>
  <cp:category/>
</cp:coreProperties>
</file>